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3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9144000" cy="5143500" type="screen16x9"/>
  <p:notesSz cx="6858000" cy="9144000"/>
  <p:embeddedFontLst>
    <p:embeddedFont>
      <p:font typeface="Alfa Slab One" panose="020B0604020202020204" charset="0"/>
      <p:regular r:id="rId39"/>
    </p:embeddedFont>
    <p:embeddedFont>
      <p:font typeface="Caveat" panose="020B0604020202020204" charset="0"/>
      <p:regular r:id="rId40"/>
      <p:bold r:id="rId41"/>
    </p:embeddedFont>
    <p:embeddedFont>
      <p:font typeface="Comic Sans MS" panose="030F0702030302020204" pitchFamily="66" charset="0"/>
      <p:regular r:id="rId42"/>
      <p:bold r:id="rId43"/>
      <p:italic r:id="rId44"/>
      <p:boldItalic r:id="rId45"/>
    </p:embeddedFont>
    <p:embeddedFont>
      <p:font typeface="Lobster" panose="00000500000000000000" pitchFamily="2" charset="0"/>
      <p:regular r:id="rId46"/>
    </p:embeddedFont>
    <p:embeddedFont>
      <p:font typeface="Play" panose="020B0604020202020204" charset="0"/>
      <p:regular r:id="rId47"/>
      <p:bold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1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6.fntdata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8.xml"/><Relationship Id="rId4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c1dc1e72e_0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3bc1dc1e72e_0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c1dc1e72e_0_3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bc1dc1e72e_0_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c1dc1e72e_0_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3bc1dc1e72e_0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c1dc1e72e_0_3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bc1dc1e72e_0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d782db4d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3bd782db4d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c1dc1e72e_0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g3bc1dc1e72e_0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c1dc1e72e_0_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c1dc1e72e_0_4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c1dc1e72e_0_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bc1dc1e72e_0_4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c1dc1e72e_0_4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bc1dc1e72e_0_4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c1dc1e72e_0_4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bc1dc1e72e_0_4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c1dc1e72e_0_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c1dc1e72e_0_4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c1dc1e72e_0_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bc1dc1e72e_0_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c1dc1e72e_0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bc1dc1e72e_0_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c1dc1e72e_0_5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bc1dc1e72e_0_5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c1dc1e72e_0_5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bc1dc1e72e_0_5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bc1dc1e72e_0_5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bc1dc1e72e_0_5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c1dc1e72e_0_5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bc1dc1e72e_0_5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bc1dc1e72e_0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bc1dc1e72e_0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c1dc1e72e_0_6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bc1dc1e72e_0_6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bc1dc1e72e_0_6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bc1dc1e72e_0_6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bc1dc1e72e_0_6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bc1dc1e72e_0_6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bc1dc1e72e_0_5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bc1dc1e72e_0_5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bc1dc1e72e_0_5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bc1dc1e72e_0_5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bc1dc1e72e_0_5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bc1dc1e72e_0_5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bc1dc1e72e_0_5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bc1dc1e72e_0_5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bc1dc1e72e_0_6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bc1dc1e72e_0_6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bc1dc1e72e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bc1dc1e72e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bc1dc1e72e_0_6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bc1dc1e72e_0_6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bc1dc1e72e_0_6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bc1dc1e72e_0_6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bc1dc1e72e_0_6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bc1dc1e72e_0_6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bc1dc1e72e_0_6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bc1dc1e72e_0_6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bc1dc1e72e_0_6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bc1dc1e72e_0_6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c1dc1e72e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bc1dc1e72e_0_6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bc1dc1e72e_0_6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bc1dc1e72e_0_6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>
            <a:spLocks noGrp="1"/>
          </p:cNvSpPr>
          <p:nvPr>
            <p:ph type="ctrTitle"/>
          </p:nvPr>
        </p:nvSpPr>
        <p:spPr>
          <a:xfrm>
            <a:off x="159800" y="949900"/>
            <a:ext cx="4893300" cy="16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780">
                <a:solidFill>
                  <a:srgbClr val="FF0000"/>
                </a:solidFill>
                <a:latin typeface="Alfa Slab One"/>
                <a:ea typeface="Alfa Slab One"/>
                <a:cs typeface="Alfa Slab One"/>
                <a:sym typeface="Alfa Slab One"/>
              </a:rPr>
              <a:t>RCB IPL Mega Auction Strategy</a:t>
            </a:r>
            <a:endParaRPr sz="3780">
              <a:solidFill>
                <a:srgbClr val="FF0000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30" name="Google Shape;130;p2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4286400" cy="13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Lobster"/>
                <a:ea typeface="Lobster"/>
                <a:cs typeface="Lobster"/>
                <a:sym typeface="Lobster"/>
              </a:rPr>
              <a:t>by</a:t>
            </a:r>
            <a:r>
              <a:rPr lang="en" sz="2400" dirty="0"/>
              <a:t> </a:t>
            </a:r>
            <a:r>
              <a:rPr lang="en" sz="2400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Abhishek kumar</a:t>
            </a:r>
            <a:endParaRPr sz="2400" dirty="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  <a:t>(26/09/2026)</a:t>
            </a:r>
            <a:endParaRPr sz="2400" dirty="0">
              <a:solidFill>
                <a:schemeClr val="dk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31" name="Google Shape;131;p25" title="rcb_log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3050" y="217500"/>
            <a:ext cx="3923750" cy="470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/>
          <p:nvPr/>
        </p:nvSpPr>
        <p:spPr>
          <a:xfrm>
            <a:off x="3477830" y="209665"/>
            <a:ext cx="21885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About RCB</a:t>
            </a:r>
            <a:endParaRPr sz="1100"/>
          </a:p>
        </p:txBody>
      </p:sp>
      <p:pic>
        <p:nvPicPr>
          <p:cNvPr id="137" name="Google Shape;137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5609" y="834097"/>
            <a:ext cx="4592782" cy="1981839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6"/>
          <p:cNvSpPr txBox="1"/>
          <p:nvPr/>
        </p:nvSpPr>
        <p:spPr>
          <a:xfrm>
            <a:off x="1049482" y="3179618"/>
            <a:ext cx="7128300" cy="15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15900" marR="0" lvl="0" indent="-215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Royal Challengers Bangalore (RCB) was established in 2008 as one of the original eight franchises in the Indian Premier League (IPL)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5900" marR="0" lvl="0" indent="-215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RCB was known for its star-studded line-ups but inconsistent results, finishing as IPL runners-up three times (2009, 2011, and 2016) and often missing the playoffs in other seasons despite its popularity and big-name acquisition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/>
          <p:nvPr/>
        </p:nvSpPr>
        <p:spPr>
          <a:xfrm>
            <a:off x="2824406" y="282401"/>
            <a:ext cx="34953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Analysis objective</a:t>
            </a:r>
            <a:endParaRPr sz="1100"/>
          </a:p>
        </p:txBody>
      </p:sp>
      <p:sp>
        <p:nvSpPr>
          <p:cNvPr id="144" name="Google Shape;144;p27"/>
          <p:cNvSpPr txBox="1"/>
          <p:nvPr/>
        </p:nvSpPr>
        <p:spPr>
          <a:xfrm>
            <a:off x="1111827" y="1423555"/>
            <a:ext cx="7138500" cy="28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15900" marR="0" lvl="0" indent="-215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develop an auction strategy to bag the best players for IPL Season 2017.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5900" marR="0" lvl="0" indent="-215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Suggesting the players who will be the best fit for the team and can help RCB in winning the championship trophy.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5900" marR="0" lvl="0" indent="-215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Analyzing the performances of present and past players of RCB team and as well as other players to find the players who are more consistent.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5900" marR="0" lvl="0" indent="-215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Analyzing the team’s weaknesses and strengths to finalize the players who can best fit in to the team.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5900" marR="0" lvl="0" indent="-215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Formed an auction strategy for bagging the best players for RCB team who will help in winning championship.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1661" y="924791"/>
            <a:ext cx="8600675" cy="368167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8"/>
          <p:cNvSpPr/>
          <p:nvPr/>
        </p:nvSpPr>
        <p:spPr>
          <a:xfrm>
            <a:off x="2856266" y="168101"/>
            <a:ext cx="3431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Schema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/>
          <p:nvPr/>
        </p:nvSpPr>
        <p:spPr>
          <a:xfrm>
            <a:off x="2548969" y="240837"/>
            <a:ext cx="40461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IPL Dataset Overview</a:t>
            </a:r>
            <a:endParaRPr sz="1100"/>
          </a:p>
        </p:txBody>
      </p:sp>
      <p:sp>
        <p:nvSpPr>
          <p:cNvPr id="156" name="Google Shape;156;p29"/>
          <p:cNvSpPr txBox="1"/>
          <p:nvPr/>
        </p:nvSpPr>
        <p:spPr>
          <a:xfrm>
            <a:off x="821975" y="1011600"/>
            <a:ext cx="7015500" cy="3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Ball by Ball : </a:t>
            </a:r>
            <a:r>
              <a:rPr lang="en" sz="1400" i="0" u="none" strike="noStrike">
                <a:solidFill>
                  <a:srgbClr val="000000"/>
                </a:solidFill>
              </a:rPr>
              <a:t>Stores delivery-level data for every ball in a match.</a:t>
            </a:r>
            <a:endParaRPr/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</a:rPr>
              <a:t>Batting style : </a:t>
            </a:r>
            <a:r>
              <a:rPr lang="en">
                <a:solidFill>
                  <a:schemeClr val="dk1"/>
                </a:solidFill>
              </a:rPr>
              <a:t>player batting techniques such as right or left-handed.</a:t>
            </a:r>
            <a:endParaRPr/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</a:rPr>
              <a:t>Bowling style : </a:t>
            </a:r>
            <a:r>
              <a:rPr lang="en">
                <a:solidFill>
                  <a:schemeClr val="dk1"/>
                </a:solidFill>
              </a:rPr>
              <a:t>Defines player bowling type and style.</a:t>
            </a:r>
            <a:endParaRPr>
              <a:solidFill>
                <a:schemeClr val="dk1"/>
              </a:solidFill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</a:rPr>
              <a:t>City : </a:t>
            </a:r>
            <a:r>
              <a:rPr lang="en">
                <a:solidFill>
                  <a:schemeClr val="dk1"/>
                </a:solidFill>
              </a:rPr>
              <a:t>Stores city information where venues are located.</a:t>
            </a:r>
            <a:endParaRPr>
              <a:solidFill>
                <a:schemeClr val="dk1"/>
              </a:solidFill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</a:rPr>
              <a:t>Country : </a:t>
            </a:r>
            <a:r>
              <a:rPr lang="en">
                <a:solidFill>
                  <a:schemeClr val="dk1"/>
                </a:solidFill>
              </a:rPr>
              <a:t>Stores country details for players, teams, and venues.</a:t>
            </a:r>
            <a:endParaRPr>
              <a:solidFill>
                <a:schemeClr val="dk1"/>
              </a:solidFill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</a:rPr>
              <a:t>Extra Runs : </a:t>
            </a:r>
            <a:r>
              <a:rPr lang="en">
                <a:solidFill>
                  <a:schemeClr val="dk1"/>
                </a:solidFill>
              </a:rPr>
              <a:t>Records extra runs conceded on specific deliveries.</a:t>
            </a:r>
            <a:endParaRPr>
              <a:solidFill>
                <a:schemeClr val="dk1"/>
              </a:solidFill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</a:rPr>
              <a:t>Extra Type : </a:t>
            </a:r>
            <a:r>
              <a:rPr lang="en">
                <a:solidFill>
                  <a:schemeClr val="dk1"/>
                </a:solidFill>
              </a:rPr>
              <a:t>Defines types of extras like wide, no-ball, bye.</a:t>
            </a:r>
            <a:endParaRPr>
              <a:solidFill>
                <a:schemeClr val="dk1"/>
              </a:solidFill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</a:rPr>
              <a:t>Matches : </a:t>
            </a:r>
            <a:r>
              <a:rPr lang="en">
                <a:solidFill>
                  <a:schemeClr val="dk1"/>
                </a:solidFill>
              </a:rPr>
              <a:t>Stores match-level details including teams, venue, and results.</a:t>
            </a:r>
            <a:endParaRPr>
              <a:solidFill>
                <a:schemeClr val="dk1"/>
              </a:solidFill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</a:rPr>
              <a:t>Out_Type : </a:t>
            </a:r>
            <a:r>
              <a:rPr lang="en">
                <a:solidFill>
                  <a:schemeClr val="dk1"/>
                </a:solidFill>
              </a:rPr>
              <a:t>Defines modes of dismissal such as caught or bowled.</a:t>
            </a:r>
            <a:endParaRPr>
              <a:solidFill>
                <a:schemeClr val="dk1"/>
              </a:solidFill>
            </a:endParaRPr>
          </a:p>
          <a:p>
            <a:pPr marL="457200" marR="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</a:rPr>
              <a:t>Outcome : </a:t>
            </a:r>
            <a:r>
              <a:rPr lang="en">
                <a:solidFill>
                  <a:schemeClr val="dk1"/>
                </a:solidFill>
              </a:rPr>
              <a:t>Stores a general match possible outcome information.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/>
          <p:nvPr/>
        </p:nvSpPr>
        <p:spPr>
          <a:xfrm>
            <a:off x="2548969" y="240837"/>
            <a:ext cx="40461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IPL Dataset Overview</a:t>
            </a:r>
            <a:endParaRPr sz="1100"/>
          </a:p>
        </p:txBody>
      </p:sp>
      <p:sp>
        <p:nvSpPr>
          <p:cNvPr id="162" name="Google Shape;162;p30"/>
          <p:cNvSpPr txBox="1"/>
          <p:nvPr/>
        </p:nvSpPr>
        <p:spPr>
          <a:xfrm>
            <a:off x="838250" y="1011600"/>
            <a:ext cx="7528200" cy="3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</a:rPr>
              <a:t>Player : </a:t>
            </a:r>
            <a:r>
              <a:rPr lang="en">
                <a:solidFill>
                  <a:schemeClr val="dk1"/>
                </a:solidFill>
              </a:rPr>
              <a:t>Contains player personal and identification details.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</a:rPr>
              <a:t>Player Match : </a:t>
            </a:r>
            <a:r>
              <a:rPr lang="en">
                <a:solidFill>
                  <a:schemeClr val="dk1"/>
                </a:solidFill>
              </a:rPr>
              <a:t>Maps players to matches they participated in.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</a:rPr>
              <a:t>Rolee : </a:t>
            </a:r>
            <a:r>
              <a:rPr lang="en">
                <a:solidFill>
                  <a:schemeClr val="dk1"/>
                </a:solidFill>
              </a:rPr>
              <a:t>Defines player roles such as batsman, bowler or all-rounder.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</a:rPr>
              <a:t>Season : </a:t>
            </a:r>
            <a:r>
              <a:rPr lang="en">
                <a:solidFill>
                  <a:schemeClr val="dk1"/>
                </a:solidFill>
              </a:rPr>
              <a:t>Stores IPL season details and identifiers.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/>
              <a:t>Team : </a:t>
            </a:r>
            <a:r>
              <a:rPr lang="en"/>
              <a:t>Stores IPL team information and identifiers.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</a:rPr>
              <a:t>Toss Decision : </a:t>
            </a:r>
            <a:r>
              <a:rPr lang="en">
                <a:solidFill>
                  <a:schemeClr val="dk1"/>
                </a:solidFill>
              </a:rPr>
              <a:t>Defines toss decision options like bat or field.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</a:rPr>
              <a:t>Umpire : </a:t>
            </a:r>
            <a:r>
              <a:rPr lang="en">
                <a:solidFill>
                  <a:schemeClr val="dk1"/>
                </a:solidFill>
              </a:rPr>
              <a:t>Stores umpire details for matches.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</a:rPr>
              <a:t>Venue : </a:t>
            </a:r>
            <a:r>
              <a:rPr lang="en">
                <a:solidFill>
                  <a:schemeClr val="dk1"/>
                </a:solidFill>
              </a:rPr>
              <a:t>Stores stadium and venue-related information.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</a:rPr>
              <a:t>Wicket_taken : </a:t>
            </a:r>
            <a:r>
              <a:rPr lang="en">
                <a:solidFill>
                  <a:schemeClr val="dk1"/>
                </a:solidFill>
              </a:rPr>
              <a:t>Records wicket events at ball level.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</a:rPr>
              <a:t>Win_By : </a:t>
            </a:r>
            <a:r>
              <a:rPr lang="en">
                <a:solidFill>
                  <a:schemeClr val="dk1"/>
                </a:solidFill>
              </a:rPr>
              <a:t>Defines victory type such as runs or wickets.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/>
          <p:nvPr/>
        </p:nvSpPr>
        <p:spPr>
          <a:xfrm>
            <a:off x="1493825" y="292800"/>
            <a:ext cx="61368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sz="1100"/>
          </a:p>
        </p:txBody>
      </p:sp>
      <p:sp>
        <p:nvSpPr>
          <p:cNvPr id="168" name="Google Shape;168;p31"/>
          <p:cNvSpPr txBox="1"/>
          <p:nvPr/>
        </p:nvSpPr>
        <p:spPr>
          <a:xfrm>
            <a:off x="644218" y="1141750"/>
            <a:ext cx="7836000" cy="3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15900" marR="0" lvl="0" indent="-215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Cleaning: 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Thoroughly checked the entire dataset for any inaccuracies, but the data is clean.</a:t>
            </a: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5900" marR="0" lvl="0" indent="-215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Aggregation: 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various aggregation functions </a:t>
            </a:r>
            <a:r>
              <a:rPr lang="en">
                <a:solidFill>
                  <a:schemeClr val="dk1"/>
                </a:solidFill>
              </a:rPr>
              <a:t>such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count(), sum(), avg(), etc. to aggregate the data and get the meaningful summary.</a:t>
            </a: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5900" marR="0" lvl="0" indent="-215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Manipulation: 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Created </a:t>
            </a:r>
            <a:r>
              <a:rPr lang="en">
                <a:solidFill>
                  <a:schemeClr val="dk1"/>
                </a:solidFill>
              </a:rPr>
              <a:t>few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views by using using joins, and also used sub-queries for easier analysis.</a:t>
            </a: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5900" marR="0" lvl="0" indent="-215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Measurement: 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Measured the data of various players by using aggregation functions and other functions like limit, window rank functions, etc.</a:t>
            </a: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5900" marR="0" lvl="0" indent="-215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Visualization: 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</a:t>
            </a:r>
            <a:r>
              <a:rPr lang="en">
                <a:solidFill>
                  <a:schemeClr val="dk1"/>
                </a:solidFill>
              </a:rPr>
              <a:t>Google Sheets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visualization of outputs to summarize the data, gain meaningful insights, and identify any trends.</a:t>
            </a:r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>
            <a:spLocks noGrp="1"/>
          </p:cNvSpPr>
          <p:nvPr>
            <p:ph type="title"/>
          </p:nvPr>
        </p:nvSpPr>
        <p:spPr>
          <a:xfrm>
            <a:off x="628650" y="1968869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Overall Player Stats</a:t>
            </a:r>
            <a:endParaRPr sz="4000" b="1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Arial"/>
                <a:ea typeface="Arial"/>
                <a:cs typeface="Arial"/>
                <a:sym typeface="Arial"/>
              </a:rPr>
              <a:t>Top Batsman by Average Runs per match</a:t>
            </a:r>
            <a:endParaRPr sz="30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3"/>
          <p:cNvSpPr txBox="1">
            <a:spLocks noGrp="1"/>
          </p:cNvSpPr>
          <p:nvPr>
            <p:ph type="body" idx="1"/>
          </p:nvPr>
        </p:nvSpPr>
        <p:spPr>
          <a:xfrm>
            <a:off x="628650" y="1369225"/>
            <a:ext cx="3554400" cy="3263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We can see that Virat Kohli has the highest average runs per match 49.24, when considering all the seasons.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We can also see that other RCB Players like AB de Villiers and Chris Gayle are also in the list </a:t>
            </a:r>
            <a:endParaRPr sz="1400"/>
          </a:p>
        </p:txBody>
      </p:sp>
      <p:pic>
        <p:nvPicPr>
          <p:cNvPr id="180" name="Google Shape;180;p33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4650" y="1253088"/>
            <a:ext cx="4000500" cy="349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 txBox="1">
            <a:spLocks noGrp="1"/>
          </p:cNvSpPr>
          <p:nvPr>
            <p:ph type="title"/>
          </p:nvPr>
        </p:nvSpPr>
        <p:spPr>
          <a:xfrm>
            <a:off x="628650" y="273850"/>
            <a:ext cx="80550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Arial"/>
                <a:ea typeface="Arial"/>
                <a:cs typeface="Arial"/>
                <a:sym typeface="Arial"/>
              </a:rPr>
              <a:t>Top Batsman by Average Runs per Season</a:t>
            </a:r>
            <a:endParaRPr/>
          </a:p>
        </p:txBody>
      </p:sp>
      <p:sp>
        <p:nvSpPr>
          <p:cNvPr id="186" name="Google Shape;186;p34"/>
          <p:cNvSpPr txBox="1">
            <a:spLocks noGrp="1"/>
          </p:cNvSpPr>
          <p:nvPr>
            <p:ph type="body" idx="1"/>
          </p:nvPr>
        </p:nvSpPr>
        <p:spPr>
          <a:xfrm>
            <a:off x="628650" y="3913520"/>
            <a:ext cx="7886700" cy="719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Virat Kohli (615.5) again tops the list. David Warner (584) is second and another RCB batsman</a:t>
            </a:r>
            <a:endParaRPr sz="140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AB de Villiers (488.75) is third, Chris Gayle(403.5) is in 10th place. There are 3 RCBians in top 10.</a:t>
            </a:r>
            <a:endParaRPr sz="1400"/>
          </a:p>
        </p:txBody>
      </p:sp>
      <p:pic>
        <p:nvPicPr>
          <p:cNvPr id="187" name="Google Shape;187;p34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1725" y="1207100"/>
            <a:ext cx="6909548" cy="244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5"/>
          <p:cNvSpPr txBox="1">
            <a:spLocks noGrp="1"/>
          </p:cNvSpPr>
          <p:nvPr>
            <p:ph type="title"/>
          </p:nvPr>
        </p:nvSpPr>
        <p:spPr>
          <a:xfrm>
            <a:off x="628650" y="273850"/>
            <a:ext cx="82422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Arial"/>
                <a:ea typeface="Arial"/>
                <a:cs typeface="Arial"/>
                <a:sym typeface="Arial"/>
              </a:rPr>
              <a:t>Top</a:t>
            </a:r>
            <a:r>
              <a:rPr lang="en"/>
              <a:t> </a:t>
            </a:r>
            <a:r>
              <a:rPr lang="en" sz="3000" b="1">
                <a:latin typeface="Arial"/>
                <a:ea typeface="Arial"/>
                <a:cs typeface="Arial"/>
                <a:sym typeface="Arial"/>
              </a:rPr>
              <a:t>Bowlers as per avg wickets per season</a:t>
            </a:r>
            <a:r>
              <a:rPr lang="en"/>
              <a:t> </a:t>
            </a:r>
            <a:endParaRPr/>
          </a:p>
        </p:txBody>
      </p:sp>
      <p:sp>
        <p:nvSpPr>
          <p:cNvPr id="193" name="Google Shape;193;p35"/>
          <p:cNvSpPr txBox="1">
            <a:spLocks noGrp="1"/>
          </p:cNvSpPr>
          <p:nvPr>
            <p:ph type="body" idx="1"/>
          </p:nvPr>
        </p:nvSpPr>
        <p:spPr>
          <a:xfrm>
            <a:off x="628650" y="1473050"/>
            <a:ext cx="3774300" cy="31599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CSK Bowler DJ Bravo tops the list with 25 average wickets per season.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Malinga with 20 and Yuzvendra Chahal with 18.67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List also features top Indian Bowlers like Bhuvneshwar Kumar, Harbhajan Singh and Sunil Narine.</a:t>
            </a:r>
            <a:endParaRPr sz="1400"/>
          </a:p>
        </p:txBody>
      </p:sp>
      <p:pic>
        <p:nvPicPr>
          <p:cNvPr id="194" name="Google Shape;194;p35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334700"/>
            <a:ext cx="4240925" cy="320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Arial"/>
                <a:ea typeface="Arial"/>
                <a:cs typeface="Arial"/>
                <a:sym typeface="Arial"/>
              </a:rPr>
              <a:t>Top All Arounders of all seasons</a:t>
            </a:r>
            <a:endParaRPr sz="30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6"/>
          <p:cNvSpPr txBox="1">
            <a:spLocks noGrp="1"/>
          </p:cNvSpPr>
          <p:nvPr>
            <p:ph type="body" idx="1"/>
          </p:nvPr>
        </p:nvSpPr>
        <p:spPr>
          <a:xfrm>
            <a:off x="628650" y="1546300"/>
            <a:ext cx="3367200" cy="3086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To consider a player as all-rounder we have considered batting average of all seasons and total_wickets in all seasons.</a:t>
            </a:r>
            <a:endParaRPr sz="1500"/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Chris Morris, SR Watson, AD Russell, Henriques, RA Jadeja etc are great allrounders</a:t>
            </a:r>
            <a:endParaRPr sz="1500"/>
          </a:p>
        </p:txBody>
      </p:sp>
      <p:pic>
        <p:nvPicPr>
          <p:cNvPr id="201" name="Google Shape;201;p36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1075" y="1289400"/>
            <a:ext cx="4964401" cy="360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>
            <a:spLocks noGrp="1"/>
          </p:cNvSpPr>
          <p:nvPr>
            <p:ph type="title"/>
          </p:nvPr>
        </p:nvSpPr>
        <p:spPr>
          <a:xfrm>
            <a:off x="628650" y="1968869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Toss &amp; Innings Impact</a:t>
            </a:r>
            <a:endParaRPr sz="4000" b="1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Arial"/>
                <a:ea typeface="Arial"/>
                <a:cs typeface="Arial"/>
                <a:sym typeface="Arial"/>
              </a:rPr>
              <a:t>Toss and its Outcome</a:t>
            </a:r>
            <a:endParaRPr/>
          </a:p>
        </p:txBody>
      </p:sp>
      <p:sp>
        <p:nvSpPr>
          <p:cNvPr id="212" name="Google Shape;212;p38"/>
          <p:cNvSpPr txBox="1">
            <a:spLocks noGrp="1"/>
          </p:cNvSpPr>
          <p:nvPr>
            <p:ph type="body" idx="1"/>
          </p:nvPr>
        </p:nvSpPr>
        <p:spPr>
          <a:xfrm>
            <a:off x="628650" y="3466975"/>
            <a:ext cx="7886700" cy="11658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20198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43"/>
              <a:buChar char="•"/>
            </a:pPr>
            <a:r>
              <a:rPr lang="en" sz="1442"/>
              <a:t>In a toss, Teams prefer fielding first with 60.78% opting for it</a:t>
            </a:r>
            <a:endParaRPr sz="1442"/>
          </a:p>
          <a:p>
            <a:pPr marL="457200" lvl="0" indent="-32019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43"/>
              <a:buChar char="•"/>
            </a:pPr>
            <a:r>
              <a:rPr lang="en" sz="1442"/>
              <a:t>And it is also backed by match outcome that fielding first has win percentage of 54.48% compared to bat first which has win percentage of 43% only</a:t>
            </a:r>
            <a:endParaRPr sz="1442"/>
          </a:p>
        </p:txBody>
      </p:sp>
      <p:pic>
        <p:nvPicPr>
          <p:cNvPr id="213" name="Google Shape;213;p38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4006" y="1187344"/>
            <a:ext cx="3138788" cy="196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Arial"/>
                <a:ea typeface="Arial"/>
                <a:cs typeface="Arial"/>
                <a:sym typeface="Arial"/>
              </a:rPr>
              <a:t>Win Percentages for different teams</a:t>
            </a:r>
            <a:endParaRPr/>
          </a:p>
        </p:txBody>
      </p:sp>
      <p:sp>
        <p:nvSpPr>
          <p:cNvPr id="220" name="Google Shape;220;p39"/>
          <p:cNvSpPr txBox="1">
            <a:spLocks noGrp="1"/>
          </p:cNvSpPr>
          <p:nvPr>
            <p:ph type="body" idx="1"/>
          </p:nvPr>
        </p:nvSpPr>
        <p:spPr>
          <a:xfrm>
            <a:off x="628650" y="1535075"/>
            <a:ext cx="3131400" cy="30975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23215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90"/>
              <a:buChar char="•"/>
            </a:pPr>
            <a:r>
              <a:rPr lang="en" sz="1490"/>
              <a:t>Gujarat Lions has highest toss_win_match_win percentage with winning 75% of the matches where the win the toss</a:t>
            </a:r>
            <a:endParaRPr sz="1490"/>
          </a:p>
          <a:p>
            <a:pPr marL="457200" lvl="0" indent="-32321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90"/>
              <a:buChar char="•"/>
            </a:pPr>
            <a:r>
              <a:rPr lang="en" sz="1490"/>
              <a:t>Second is Chennai Super Kings with 64.29% </a:t>
            </a:r>
            <a:endParaRPr sz="1490"/>
          </a:p>
          <a:p>
            <a:pPr marL="457200" lvl="0" indent="-32321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90"/>
              <a:buChar char="•"/>
            </a:pPr>
            <a:r>
              <a:rPr lang="en" sz="1490"/>
              <a:t>Third is RCB with 56.67%</a:t>
            </a:r>
            <a:endParaRPr sz="1490"/>
          </a:p>
        </p:txBody>
      </p:sp>
      <p:pic>
        <p:nvPicPr>
          <p:cNvPr id="221" name="Google Shape;221;p39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8050" y="1535075"/>
            <a:ext cx="4757051" cy="293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Arial"/>
                <a:ea typeface="Arial"/>
                <a:cs typeface="Arial"/>
                <a:sym typeface="Arial"/>
              </a:rPr>
              <a:t>Toss Choice and Match Outcomes</a:t>
            </a:r>
            <a:endParaRPr/>
          </a:p>
        </p:txBody>
      </p:sp>
      <p:sp>
        <p:nvSpPr>
          <p:cNvPr id="227" name="Google Shape;227;p40"/>
          <p:cNvSpPr txBox="1">
            <a:spLocks noGrp="1"/>
          </p:cNvSpPr>
          <p:nvPr>
            <p:ph type="body" idx="1"/>
          </p:nvPr>
        </p:nvSpPr>
        <p:spPr>
          <a:xfrm>
            <a:off x="628650" y="1369225"/>
            <a:ext cx="2919600" cy="3263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The preference to bat or field first varies from team to team. 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RCB’s first choice is fielding (76.67%) and corresponding win percentage is 60.87%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RCB’s second choice is bat (23.33%) and corresponding win percentage is 42.86%</a:t>
            </a:r>
            <a:endParaRPr sz="1400"/>
          </a:p>
        </p:txBody>
      </p:sp>
      <p:pic>
        <p:nvPicPr>
          <p:cNvPr id="228" name="Google Shape;228;p40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0425" y="1408850"/>
            <a:ext cx="5366275" cy="313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Arial"/>
                <a:ea typeface="Arial"/>
                <a:cs typeface="Arial"/>
                <a:sym typeface="Arial"/>
              </a:rPr>
              <a:t>Toss choices based on Venue</a:t>
            </a:r>
            <a:endParaRPr/>
          </a:p>
        </p:txBody>
      </p:sp>
      <p:sp>
        <p:nvSpPr>
          <p:cNvPr id="234" name="Google Shape;234;p41"/>
          <p:cNvSpPr txBox="1">
            <a:spLocks noGrp="1"/>
          </p:cNvSpPr>
          <p:nvPr>
            <p:ph type="body" idx="1"/>
          </p:nvPr>
        </p:nvSpPr>
        <p:spPr>
          <a:xfrm>
            <a:off x="628650" y="1369225"/>
            <a:ext cx="2781300" cy="3263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We can see each stadium has a noticeable preference to bat first or field first.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RCB’s home ground M Chinnaswamy Stadium has a field first preference.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However it has to be noted that rcb plays half of the matches played here</a:t>
            </a:r>
            <a:endParaRPr sz="1400"/>
          </a:p>
        </p:txBody>
      </p:sp>
      <p:pic>
        <p:nvPicPr>
          <p:cNvPr id="235" name="Google Shape;235;p41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9775" y="1524275"/>
            <a:ext cx="4665575" cy="288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Arial"/>
                <a:ea typeface="Arial"/>
                <a:cs typeface="Arial"/>
                <a:sym typeface="Arial"/>
              </a:rPr>
              <a:t>Win and Loss stats chosen bat and field</a:t>
            </a:r>
            <a:endParaRPr/>
          </a:p>
        </p:txBody>
      </p:sp>
      <p:sp>
        <p:nvSpPr>
          <p:cNvPr id="241" name="Google Shape;241;p42"/>
          <p:cNvSpPr txBox="1">
            <a:spLocks noGrp="1"/>
          </p:cNvSpPr>
          <p:nvPr>
            <p:ph type="body" idx="1"/>
          </p:nvPr>
        </p:nvSpPr>
        <p:spPr>
          <a:xfrm>
            <a:off x="628650" y="1427700"/>
            <a:ext cx="2976600" cy="32049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70000"/>
          </a:bodyPr>
          <a:lstStyle/>
          <a:p>
            <a:pPr marL="457200" lvl="0" indent="-29083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ct val="66666"/>
              <a:buChar char="•"/>
            </a:pPr>
            <a:r>
              <a:rPr lang="en"/>
              <a:t>Resonating with the toss choice preferences specific to venues, the result of matches follow.</a:t>
            </a:r>
            <a:endParaRPr/>
          </a:p>
          <a:p>
            <a:pPr marL="457200" lvl="0" indent="-29083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6666"/>
              <a:buChar char="•"/>
            </a:pPr>
            <a:r>
              <a:rPr lang="en"/>
              <a:t>Chinnaswamy Stadium has 51.85% chance of winning when field first and 33.33% chance of winning when chosen bat first.</a:t>
            </a:r>
            <a:endParaRPr/>
          </a:p>
        </p:txBody>
      </p:sp>
      <p:pic>
        <p:nvPicPr>
          <p:cNvPr id="242" name="Google Shape;242;p42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5075" y="1369225"/>
            <a:ext cx="4964450" cy="320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3"/>
          <p:cNvSpPr txBox="1">
            <a:spLocks noGrp="1"/>
          </p:cNvSpPr>
          <p:nvPr>
            <p:ph type="title"/>
          </p:nvPr>
        </p:nvSpPr>
        <p:spPr>
          <a:xfrm>
            <a:off x="628650" y="1968869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Viewership and Fanbase Factors</a:t>
            </a:r>
            <a:endParaRPr sz="4000" b="1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Arial"/>
                <a:ea typeface="Arial"/>
                <a:cs typeface="Arial"/>
                <a:sym typeface="Arial"/>
              </a:rPr>
              <a:t>Boundaries stats of each Team</a:t>
            </a:r>
            <a:endParaRPr/>
          </a:p>
        </p:txBody>
      </p:sp>
      <p:sp>
        <p:nvSpPr>
          <p:cNvPr id="253" name="Google Shape;253;p44"/>
          <p:cNvSpPr txBox="1">
            <a:spLocks noGrp="1"/>
          </p:cNvSpPr>
          <p:nvPr>
            <p:ph type="body" idx="1"/>
          </p:nvPr>
        </p:nvSpPr>
        <p:spPr>
          <a:xfrm>
            <a:off x="628650" y="1447225"/>
            <a:ext cx="3196500" cy="3185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The chart shows what is the percentage of boundaries in the total runs scored.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RCB has the highest percentage of Boundaries with 61.17% runs coming from boundaries.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Almost all teams are doing well with boundaries.</a:t>
            </a:r>
            <a:endParaRPr sz="1400"/>
          </a:p>
        </p:txBody>
      </p:sp>
      <p:pic>
        <p:nvPicPr>
          <p:cNvPr id="254" name="Google Shape;254;p44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2575" y="1447237"/>
            <a:ext cx="4882425" cy="27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Arial"/>
                <a:ea typeface="Arial"/>
                <a:cs typeface="Arial"/>
                <a:sym typeface="Arial"/>
              </a:rPr>
              <a:t>Powerplay &amp; Death_Over Performances</a:t>
            </a:r>
            <a:endParaRPr/>
          </a:p>
        </p:txBody>
      </p:sp>
      <p:sp>
        <p:nvSpPr>
          <p:cNvPr id="260" name="Google Shape;260;p45"/>
          <p:cNvSpPr txBox="1">
            <a:spLocks noGrp="1"/>
          </p:cNvSpPr>
          <p:nvPr>
            <p:ph type="body" idx="1"/>
          </p:nvPr>
        </p:nvSpPr>
        <p:spPr>
          <a:xfrm>
            <a:off x="628650" y="1350975"/>
            <a:ext cx="3147600" cy="3377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Mumbai Indians has the highest Death Overs runs, matching its strong batting line up.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RCB even though the batting line up isn’t deep, due to consistent performances from top order batsmen like Kohli, ABD and Gayle is on par with all other teams.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GL,PW,RP are newer teams hence small totals.</a:t>
            </a:r>
            <a:endParaRPr sz="1400"/>
          </a:p>
        </p:txBody>
      </p:sp>
      <p:pic>
        <p:nvPicPr>
          <p:cNvPr id="261" name="Google Shape;261;p45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8625" y="1499539"/>
            <a:ext cx="4859450" cy="300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Arial"/>
                <a:ea typeface="Arial"/>
                <a:cs typeface="Arial"/>
                <a:sym typeface="Arial"/>
              </a:rPr>
              <a:t>Avg Total Runs scored per match in venue</a:t>
            </a:r>
            <a:endParaRPr sz="30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46"/>
          <p:cNvSpPr txBox="1">
            <a:spLocks noGrp="1"/>
          </p:cNvSpPr>
          <p:nvPr>
            <p:ph type="body" idx="1"/>
          </p:nvPr>
        </p:nvSpPr>
        <p:spPr>
          <a:xfrm>
            <a:off x="628650" y="1497475"/>
            <a:ext cx="3245400" cy="31353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27305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700"/>
              <a:buChar char="•"/>
            </a:pPr>
            <a:r>
              <a:rPr lang="en" sz="1400"/>
              <a:t>Higher run count means higher satisfaction rates and viewership.</a:t>
            </a:r>
            <a:endParaRPr sz="1400"/>
          </a:p>
          <a:p>
            <a:pPr marL="457200" lvl="0" indent="-2730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Char char="•"/>
            </a:pPr>
            <a:r>
              <a:rPr lang="en" sz="1400"/>
              <a:t>Wankhede has the highest Average runs per match with 335 runs.</a:t>
            </a:r>
            <a:endParaRPr sz="1400"/>
          </a:p>
          <a:p>
            <a:pPr marL="457200" lvl="0" indent="-2730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Char char="•"/>
            </a:pPr>
            <a:r>
              <a:rPr lang="en" sz="1400"/>
              <a:t>RCB homeground Chinnaswamy stadium is second with 328 runs, tied with Maharastra Stadium.</a:t>
            </a:r>
            <a:endParaRPr sz="1400"/>
          </a:p>
        </p:txBody>
      </p:sp>
      <p:pic>
        <p:nvPicPr>
          <p:cNvPr id="268" name="Google Shape;268;p46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3050" y="1603275"/>
            <a:ext cx="4783775" cy="295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7"/>
          <p:cNvSpPr txBox="1">
            <a:spLocks noGrp="1"/>
          </p:cNvSpPr>
          <p:nvPr>
            <p:ph type="title"/>
          </p:nvPr>
        </p:nvSpPr>
        <p:spPr>
          <a:xfrm>
            <a:off x="628650" y="1968869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Home ground Advantage</a:t>
            </a:r>
            <a:endParaRPr sz="4000" b="1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Arial"/>
                <a:ea typeface="Arial"/>
                <a:cs typeface="Arial"/>
                <a:sym typeface="Arial"/>
              </a:rPr>
              <a:t>Wins and Loses</a:t>
            </a:r>
            <a:endParaRPr/>
          </a:p>
        </p:txBody>
      </p:sp>
      <p:sp>
        <p:nvSpPr>
          <p:cNvPr id="279" name="Google Shape;279;p48"/>
          <p:cNvSpPr txBox="1">
            <a:spLocks noGrp="1"/>
          </p:cNvSpPr>
          <p:nvPr>
            <p:ph type="body" idx="1"/>
          </p:nvPr>
        </p:nvSpPr>
        <p:spPr>
          <a:xfrm>
            <a:off x="529000" y="1268050"/>
            <a:ext cx="4043100" cy="3507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7500" algn="l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Out of 29 Matches RCB Played in Home ground, it won 16 of them (55.17%)</a:t>
            </a:r>
            <a:endParaRPr sz="1400"/>
          </a:p>
          <a:p>
            <a:pPr marL="45720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Out of 33 Matches RCB Played in other stadiums it has won only 15 of them (45.45%)</a:t>
            </a:r>
            <a:endParaRPr sz="1400"/>
          </a:p>
          <a:p>
            <a:pPr marL="45720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It shows RCB can take advantage of home ground to qualify for playoffs, but the play_off matches</a:t>
            </a:r>
            <a:endParaRPr sz="1400"/>
          </a:p>
          <a:p>
            <a:pPr marL="457200" lvl="0" indent="-3175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When organized outside Home, RCB loses this advantage and is one of reason it hasn’t won a trophy.</a:t>
            </a:r>
            <a:endParaRPr sz="1400"/>
          </a:p>
        </p:txBody>
      </p:sp>
      <p:pic>
        <p:nvPicPr>
          <p:cNvPr id="280" name="Google Shape;280;p48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601850"/>
            <a:ext cx="4323726" cy="267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9"/>
          <p:cNvSpPr txBox="1">
            <a:spLocks noGrp="1"/>
          </p:cNvSpPr>
          <p:nvPr>
            <p:ph type="title"/>
          </p:nvPr>
        </p:nvSpPr>
        <p:spPr>
          <a:xfrm>
            <a:off x="577825" y="273850"/>
            <a:ext cx="80574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Arial"/>
                <a:ea typeface="Arial"/>
                <a:cs typeface="Arial"/>
                <a:sym typeface="Arial"/>
              </a:rPr>
              <a:t>RCB Innings Stats At Home (Chinnaswamy)</a:t>
            </a:r>
            <a:endParaRPr/>
          </a:p>
        </p:txBody>
      </p:sp>
      <p:sp>
        <p:nvSpPr>
          <p:cNvPr id="286" name="Google Shape;286;p49"/>
          <p:cNvSpPr txBox="1">
            <a:spLocks noGrp="1"/>
          </p:cNvSpPr>
          <p:nvPr>
            <p:ph type="body" idx="1"/>
          </p:nvPr>
        </p:nvSpPr>
        <p:spPr>
          <a:xfrm>
            <a:off x="628650" y="1369225"/>
            <a:ext cx="3074400" cy="3263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Of the 29 matches it played at home, In 16 Matches it batted first and won 50% of those matches.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In 13 Matches it bowled first and won 61.54% of the matches successfully chasing the target. (A reason why RCB keeps on choosing field first.)</a:t>
            </a:r>
            <a:endParaRPr sz="1400"/>
          </a:p>
        </p:txBody>
      </p:sp>
      <p:pic>
        <p:nvPicPr>
          <p:cNvPr id="287" name="Google Shape;287;p49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5050" y="1464925"/>
            <a:ext cx="4858100" cy="285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Arial"/>
                <a:ea typeface="Arial"/>
                <a:cs typeface="Arial"/>
                <a:sym typeface="Arial"/>
              </a:rPr>
              <a:t>High Strike Rate Players at Chinnaswamy</a:t>
            </a:r>
            <a:endParaRPr/>
          </a:p>
        </p:txBody>
      </p:sp>
      <p:sp>
        <p:nvSpPr>
          <p:cNvPr id="293" name="Google Shape;293;p50"/>
          <p:cNvSpPr txBox="1">
            <a:spLocks noGrp="1"/>
          </p:cNvSpPr>
          <p:nvPr>
            <p:ph type="body" idx="1"/>
          </p:nvPr>
        </p:nvSpPr>
        <p:spPr>
          <a:xfrm>
            <a:off x="628650" y="1619550"/>
            <a:ext cx="3513900" cy="3013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These are batsmen from all teams, whose performance was good at Chinnaswamy.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We need to focus on them because we could select them in Auction, because Almost 50% of a team’s matches happen in their homeground.</a:t>
            </a:r>
            <a:endParaRPr sz="1400"/>
          </a:p>
        </p:txBody>
      </p:sp>
      <p:pic>
        <p:nvPicPr>
          <p:cNvPr id="294" name="Google Shape;294;p50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6050" y="1316987"/>
            <a:ext cx="4627025" cy="348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Arial"/>
                <a:ea typeface="Arial"/>
                <a:cs typeface="Arial"/>
                <a:sym typeface="Arial"/>
              </a:rPr>
              <a:t>Top Bowlers stats at Chinnaswamy</a:t>
            </a:r>
            <a:endParaRPr sz="30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51"/>
          <p:cNvSpPr txBox="1">
            <a:spLocks noGrp="1"/>
          </p:cNvSpPr>
          <p:nvPr>
            <p:ph type="body" idx="1"/>
          </p:nvPr>
        </p:nvSpPr>
        <p:spPr>
          <a:xfrm>
            <a:off x="628650" y="1595150"/>
            <a:ext cx="3147600" cy="30375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These are bowlers from all teams whose performance was good at Chinnaswamy.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Players like Ashish Nehra, CJ Jordan, SR Watson, Bhuvneshwar Kumar would be great picks in auction.</a:t>
            </a:r>
            <a:endParaRPr sz="1400"/>
          </a:p>
        </p:txBody>
      </p:sp>
      <p:pic>
        <p:nvPicPr>
          <p:cNvPr id="301" name="Google Shape;301;p51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7525" y="1399825"/>
            <a:ext cx="4950126" cy="272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2"/>
          <p:cNvSpPr txBox="1">
            <a:spLocks noGrp="1"/>
          </p:cNvSpPr>
          <p:nvPr>
            <p:ph type="title"/>
          </p:nvPr>
        </p:nvSpPr>
        <p:spPr>
          <a:xfrm>
            <a:off x="311700" y="290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11" b="1"/>
              <a:t>Avg Runs of all seasons</a:t>
            </a:r>
            <a:endParaRPr sz="3011" b="1"/>
          </a:p>
        </p:txBody>
      </p:sp>
      <p:sp>
        <p:nvSpPr>
          <p:cNvPr id="307" name="Google Shape;307;p52"/>
          <p:cNvSpPr txBox="1">
            <a:spLocks noGrp="1"/>
          </p:cNvSpPr>
          <p:nvPr>
            <p:ph type="body" idx="1"/>
          </p:nvPr>
        </p:nvSpPr>
        <p:spPr>
          <a:xfrm>
            <a:off x="311700" y="1559275"/>
            <a:ext cx="4009800" cy="24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RCB has not won a single trophy during the period 2008 to 2016.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From the last 4 seasons data, we can see that, RCB more than 50% winning matches in seasons 6,8,9. 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RCB made it to playoffs in season 8 and 9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308" name="Google Shape;308;p52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9025" y="1203775"/>
            <a:ext cx="4479076" cy="27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3"/>
          <p:cNvSpPr txBox="1">
            <a:spLocks noGrp="1"/>
          </p:cNvSpPr>
          <p:nvPr>
            <p:ph type="title"/>
          </p:nvPr>
        </p:nvSpPr>
        <p:spPr>
          <a:xfrm>
            <a:off x="628650" y="1968869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Recommended Players</a:t>
            </a:r>
            <a:endParaRPr sz="4000" b="1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4"/>
          <p:cNvSpPr txBox="1">
            <a:spLocks noGrp="1"/>
          </p:cNvSpPr>
          <p:nvPr>
            <p:ph type="body" idx="1"/>
          </p:nvPr>
        </p:nvSpPr>
        <p:spPr>
          <a:xfrm>
            <a:off x="628650" y="895225"/>
            <a:ext cx="4091700" cy="3737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This chart identifies batsmen who are best suited for team selection by combining three critical performance dimensions:</a:t>
            </a:r>
            <a:endParaRPr sz="140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400"/>
              <a:t>High strike rate </a:t>
            </a:r>
            <a:endParaRPr sz="140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400"/>
              <a:t>Strong batting average </a:t>
            </a:r>
            <a:endParaRPr sz="140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400"/>
              <a:t>Sufficient match exposure – ensured by a minimum total runs threshold.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As a result, AB de Villiers, Pollard, CHris Gayle, Virat Kohli, David Warner, Simmons etc can be top choices.</a:t>
            </a:r>
            <a:endParaRPr/>
          </a:p>
        </p:txBody>
      </p:sp>
      <p:pic>
        <p:nvPicPr>
          <p:cNvPr id="319" name="Google Shape;319;p54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1550" y="431350"/>
            <a:ext cx="3997525" cy="44048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5"/>
          <p:cNvSpPr txBox="1">
            <a:spLocks noGrp="1"/>
          </p:cNvSpPr>
          <p:nvPr>
            <p:ph type="body" idx="1"/>
          </p:nvPr>
        </p:nvSpPr>
        <p:spPr>
          <a:xfrm>
            <a:off x="628650" y="3662300"/>
            <a:ext cx="7886700" cy="970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/>
              <a:t>The chart identifies top bowlers whose economy is better and who take wickets within less runs.  Aravind, DJ Bravo, Mitchell Starc, Sunil Narine could be top picks.</a:t>
            </a:r>
            <a:endParaRPr sz="1400"/>
          </a:p>
        </p:txBody>
      </p:sp>
      <p:pic>
        <p:nvPicPr>
          <p:cNvPr id="325" name="Google Shape;325;p55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2750" y="286575"/>
            <a:ext cx="6464150" cy="32061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6"/>
          <p:cNvSpPr txBox="1">
            <a:spLocks noGrp="1"/>
          </p:cNvSpPr>
          <p:nvPr>
            <p:ph type="body" idx="1"/>
          </p:nvPr>
        </p:nvSpPr>
        <p:spPr>
          <a:xfrm>
            <a:off x="628650" y="735925"/>
            <a:ext cx="3440700" cy="3896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The players in the chart are the ones who appeared commonly in both the top batsmen and top bowler lists. 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Having such allrounders helps team when top order fails, especially for team like RCB, where dependency is more on few star players.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Yuvraj Singh, KA Pollard, AD Mathews, CH Morris, AD Russell would be great picks.</a:t>
            </a:r>
            <a:endParaRPr sz="1400"/>
          </a:p>
        </p:txBody>
      </p:sp>
      <p:pic>
        <p:nvPicPr>
          <p:cNvPr id="331" name="Google Shape;331;p56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1575" y="550875"/>
            <a:ext cx="4368250" cy="404172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Arial"/>
                <a:ea typeface="Arial"/>
                <a:cs typeface="Arial"/>
                <a:sym typeface="Arial"/>
              </a:rPr>
              <a:t>Man_of_match Stats</a:t>
            </a:r>
            <a:endParaRPr sz="30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57"/>
          <p:cNvSpPr txBox="1">
            <a:spLocks noGrp="1"/>
          </p:cNvSpPr>
          <p:nvPr>
            <p:ph type="body" idx="1"/>
          </p:nvPr>
        </p:nvSpPr>
        <p:spPr>
          <a:xfrm>
            <a:off x="628650" y="1494900"/>
            <a:ext cx="3251100" cy="3093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Usually people capable of getting multiple man of the matches are core players of team, usually retained by the team.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But Mega Auction is coming up and teams may want to reset their team, so RCB needs to look out for such players.</a:t>
            </a:r>
            <a:endParaRPr sz="1400"/>
          </a:p>
        </p:txBody>
      </p:sp>
      <p:pic>
        <p:nvPicPr>
          <p:cNvPr id="338" name="Google Shape;338;p57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3700" y="1374337"/>
            <a:ext cx="4840251" cy="2992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Arial"/>
                <a:ea typeface="Arial"/>
                <a:cs typeface="Arial"/>
                <a:sym typeface="Arial"/>
              </a:rPr>
              <a:t>Conclusion</a:t>
            </a:r>
            <a:endParaRPr sz="30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5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RCB already has a great top order batsman in form of Virat Kohli, Ab de Villiers, Chris Gayle who place high in metrics like total runs, strike rate and batting average &amp; boundary hitting abilities. They help put up good total in the powerplay. 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RCB has good bowlers in form of Yuzvendra Chahal, S Watson and Mitchell Starc.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RCB needs all-rounders like Yuvraj Singh, Pollard, Russell and Jadeja to support team when top order batsmen and bowlers fail.  Which usually happens in play_offs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RCB is performing above average in almost most of the seasons, it just needs the right balance of roles in team to win play_offs against specific opponents like CSK and MI.</a:t>
            </a:r>
            <a:endParaRPr sz="14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5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1" name="Google Shape;351;p59" title="Thank You Slid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7"/>
            <a:ext cx="9144000" cy="5119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1743</Words>
  <Application>Microsoft Office PowerPoint</Application>
  <PresentationFormat>On-screen Show (16:9)</PresentationFormat>
  <Paragraphs>124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Lobster</vt:lpstr>
      <vt:lpstr>Play</vt:lpstr>
      <vt:lpstr>Comic Sans MS</vt:lpstr>
      <vt:lpstr>Arial</vt:lpstr>
      <vt:lpstr>Caveat</vt:lpstr>
      <vt:lpstr>Alfa Slab One</vt:lpstr>
      <vt:lpstr>Simple Light</vt:lpstr>
      <vt:lpstr>Office Theme</vt:lpstr>
      <vt:lpstr>RCB IPL Mega Auction Strategy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Overall Player Stats</vt:lpstr>
      <vt:lpstr>Top Batsman by Average Runs per match</vt:lpstr>
      <vt:lpstr>Top Batsman by Average Runs per Season</vt:lpstr>
      <vt:lpstr>Top Bowlers as per avg wickets per season </vt:lpstr>
      <vt:lpstr>Top All Arounders of all seasons</vt:lpstr>
      <vt:lpstr>Toss &amp; Innings Impact</vt:lpstr>
      <vt:lpstr>Toss and its Outcome</vt:lpstr>
      <vt:lpstr>Win Percentages for different teams</vt:lpstr>
      <vt:lpstr>Toss Choice and Match Outcomes</vt:lpstr>
      <vt:lpstr>Toss choices based on Venue</vt:lpstr>
      <vt:lpstr>Win and Loss stats chosen bat and field</vt:lpstr>
      <vt:lpstr>Viewership and Fanbase Factors</vt:lpstr>
      <vt:lpstr>Boundaries stats of each Team</vt:lpstr>
      <vt:lpstr>Powerplay &amp; Death_Over Performances</vt:lpstr>
      <vt:lpstr>Avg Total Runs scored per match in venue</vt:lpstr>
      <vt:lpstr>Home ground Advantage</vt:lpstr>
      <vt:lpstr>Wins and Loses</vt:lpstr>
      <vt:lpstr>RCB Innings Stats At Home (Chinnaswamy)</vt:lpstr>
      <vt:lpstr>High Strike Rate Players at Chinnaswamy</vt:lpstr>
      <vt:lpstr>Top Bowlers stats at Chinnaswamy</vt:lpstr>
      <vt:lpstr>Avg Runs of all seasons</vt:lpstr>
      <vt:lpstr>Recommended Players</vt:lpstr>
      <vt:lpstr>PowerPoint Presentation</vt:lpstr>
      <vt:lpstr>PowerPoint Presentation</vt:lpstr>
      <vt:lpstr>PowerPoint Presentation</vt:lpstr>
      <vt:lpstr>Man_of_match Stats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Abhishek singh</cp:lastModifiedBy>
  <cp:revision>2</cp:revision>
  <dcterms:modified xsi:type="dcterms:W3CDTF">2026-09-29T15:56:13Z</dcterms:modified>
</cp:coreProperties>
</file>